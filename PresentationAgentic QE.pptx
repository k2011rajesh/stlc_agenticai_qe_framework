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321A88-4E82-C072-7CDF-7925414B8D19}" name="Sarika Kumar" initials="SK" userId="9b10e9b919a13e0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E67BFC-5B55-4CA3-A9F0-96DB6D412B30}" authorId="{AA321A88-4E82-C072-7CDF-7925414B8D19}" created="2026-04-27T03:33:29.7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cxnSpMk id="1075"/>
    </ac:deMkLst>
    <p188:txBody>
      <a:bodyPr/>
      <a:lstStyle/>
      <a:p>
        <a:r>
          <a:rPr lang="en-US"/>
          <a:t>Add Prod issues and defect to Design Agent and test cases for impacted areas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F4D65-1088-4596-A62D-DFE69D24D1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0757B-8274-41A9-942C-5A8080C47C3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8510949" y="873369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6592759" y="890954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/>
          <p:cNvSpPr/>
          <p:nvPr/>
        </p:nvSpPr>
        <p:spPr>
          <a:xfrm>
            <a:off x="4053251" y="890954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/>
          <p:cNvSpPr/>
          <p:nvPr/>
        </p:nvSpPr>
        <p:spPr>
          <a:xfrm>
            <a:off x="1881549" y="873369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66370" y="398780"/>
            <a:ext cx="1521460" cy="39878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1000" b="1" dirty="0"/>
              <a:t>Relearning and Requirement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4308" y="398585"/>
            <a:ext cx="1688125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1100" b="1" dirty="0"/>
              <a:t>Design  and </a:t>
            </a:r>
          </a:p>
          <a:p>
            <a:r>
              <a:rPr lang="en-IN" sz="1100" b="1" dirty="0"/>
              <a:t>code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8616" y="421668"/>
            <a:ext cx="1688125" cy="42989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1100" b="1" dirty="0"/>
              <a:t>Self-Healing and Execution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9370" y="398780"/>
            <a:ext cx="1687830" cy="46228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noAutofit/>
          </a:bodyPr>
          <a:lstStyle/>
          <a:p>
            <a:r>
              <a:rPr lang="en-IN" sz="1100" b="1" dirty="0"/>
              <a:t>Report and Defect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975" y="398145"/>
            <a:ext cx="1525270" cy="4311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noAutofit/>
          </a:bodyPr>
          <a:lstStyle/>
          <a:p>
            <a:r>
              <a:rPr lang="en-IN" sz="1100" b="1" dirty="0"/>
              <a:t>Monitoring and Observability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9213" y="1477108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Defect, Metrics SLA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Monitors defect resolution against defined SLA targets.</a:t>
            </a:r>
          </a:p>
        </p:txBody>
      </p:sp>
      <p:sp>
        <p:nvSpPr>
          <p:cNvPr id="26" name="Rectangle: Rounded Corners 25"/>
          <p:cNvSpPr/>
          <p:nvPr/>
        </p:nvSpPr>
        <p:spPr>
          <a:xfrm>
            <a:off x="10454052" y="890954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/>
          <p:cNvSpPr/>
          <p:nvPr/>
        </p:nvSpPr>
        <p:spPr>
          <a:xfrm>
            <a:off x="1893273" y="873369"/>
            <a:ext cx="1230928" cy="5287108"/>
          </a:xfrm>
          <a:prstGeom prst="roundRect">
            <a:avLst/>
          </a:prstGeom>
          <a:ln w="31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8669213" y="269044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Logs, Traces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Collects and correlates application logs and distributed traces.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385" y="3966845"/>
            <a:ext cx="991235" cy="7505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Performance Monitoring 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Tracks response times, throughput, and resource utilization.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69213" y="5149361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APM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Provides end-to-end application performance visibility.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38567" y="1477108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Report Quality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Generates comprehensive test execution reports and dashboards.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8567" y="269044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CI CD Execution</a:t>
            </a:r>
          </a:p>
          <a:p>
            <a:pPr algn="ctr"/>
            <a:r>
              <a:rPr lang="en-IN" sz="1050" dirty="0"/>
              <a:t>Test Coverage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Tracks test coverage metrics across CI/CD pipelines.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8567" y="396679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Defect Analysis and Creation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Identifies failures and auto-creates defect tickets.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38567" y="5149361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Defect Triage 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Classifies and prioritizes defects by severity and impact.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0782" y="1477108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Execute Tags (Smoke, Regression)-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Runs tagged test suites based on smoke or regression scope.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0782" y="269044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Self Healing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Auto-repairs broken locators and test element references.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87190" y="3980180"/>
            <a:ext cx="963295" cy="7505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Auto Test Prioritization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Ranks tests by risk and change impact for optimal runs.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0782" y="5149361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  <a:p>
            <a:pPr algn="ctr"/>
            <a:r>
              <a:rPr lang="en-IN" sz="1050"/>
              <a:t>Test Orchestration </a:t>
            </a:r>
            <a:r>
              <a:rPr lang="en-IN" sz="1050" dirty="0"/>
              <a:t>Agent</a:t>
            </a:r>
            <a:endParaRPr lang="en-IN" sz="1050"/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Orchestrates end-to-end test execution workflows.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27361" y="1477108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JIRA and Xray  Map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Maps requirements to test cases in project tracking tools.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27361" y="269044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Generate BDD Test cases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Auto-generates BDD scenarios from user stories and acceptance criteria.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27361" y="396679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Score SMART | INVEST – Quality Agent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Evaluates story quality using SMART and INVEST criteria.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7361" y="5149361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Script and Code Quality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Analyzes test scripts for code quality, standards, and best practices.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398780"/>
            <a:ext cx="1259840" cy="42989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1100" b="1" dirty="0"/>
              <a:t>UAT and Prod Sever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47" y="1053591"/>
            <a:ext cx="679209" cy="28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ray For Jira Logo, HD Png Download , Transparent Png Image - PNGite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74" y="2550221"/>
            <a:ext cx="586882" cy="51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229698" y="1471468"/>
            <a:ext cx="130931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Requirement  - &gt; Epics break down into Features, which further divide into Stories and Tasks.</a:t>
            </a:r>
            <a:endParaRPr lang="en-IN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211378" y="3118234"/>
            <a:ext cx="14994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Manage BDD test cases and scenarios, track execution status (pass/fail), and generate reports.</a:t>
            </a:r>
            <a:endParaRPr lang="en-IN" sz="1000" dirty="0"/>
          </a:p>
        </p:txBody>
      </p:sp>
      <p:pic>
        <p:nvPicPr>
          <p:cNvPr id="1032" name="Picture 8" descr="GitHub Logo, symbol, meaning, history, PNG, bra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0" y="4032658"/>
            <a:ext cx="825021" cy="46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188674" y="4523804"/>
            <a:ext cx="15456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GitHub acts as the central repository for test scripts, handling code, branches, pull requests, and pipelines to facilitate automated runs via GitHub Actions.</a:t>
            </a:r>
            <a:endParaRPr lang="en-IN" sz="1000" dirty="0"/>
          </a:p>
        </p:txBody>
      </p:sp>
      <p:sp>
        <p:nvSpPr>
          <p:cNvPr id="55" name="Rectangle 54"/>
          <p:cNvSpPr/>
          <p:nvPr/>
        </p:nvSpPr>
        <p:spPr>
          <a:xfrm>
            <a:off x="3112471" y="1939865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Common Reusable Utilities  Agent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Provides shared helper functions and reusable test components.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3581" y="3429252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Env -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Provisions and manages test environments on demand.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8654" y="4730636"/>
            <a:ext cx="914400" cy="750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Test Data - Agent  </a:t>
            </a:r>
          </a:p>
          <a:p>
            <a:pPr algn="ctr"/>
            <a:r>
              <a:rPr lang="en-IN" sz="700" i="1">
                <a:solidFill>
                  <a:srgbClr val="D0D0D0"/>
                </a:solidFill>
              </a:rPr>
              <a:t>Generates and manages synthetic test data sets.</a:t>
            </a:r>
          </a:p>
        </p:txBody>
      </p:sp>
      <p:pic>
        <p:nvPicPr>
          <p:cNvPr id="58" name="Picture 6" descr="Xray For Jira Logo, HD Png Download , Transparent Png Image - PNGite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551" y="3464645"/>
            <a:ext cx="586882" cy="51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6" descr="Xray For Jira Logo, HD Png Download , Transparent Png Image - PNGite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914" y="4717476"/>
            <a:ext cx="586882" cy="51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Arrow: Left-Right 1025"/>
          <p:cNvSpPr/>
          <p:nvPr/>
        </p:nvSpPr>
        <p:spPr>
          <a:xfrm>
            <a:off x="5557170" y="1282993"/>
            <a:ext cx="837723" cy="28378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7" name="Arrow: Left-Right 1026"/>
          <p:cNvSpPr/>
          <p:nvPr/>
        </p:nvSpPr>
        <p:spPr>
          <a:xfrm>
            <a:off x="1323244" y="2633526"/>
            <a:ext cx="583223" cy="31538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9" name="Arrow: Left-Right 1028"/>
          <p:cNvSpPr/>
          <p:nvPr/>
        </p:nvSpPr>
        <p:spPr>
          <a:xfrm>
            <a:off x="7889800" y="2856624"/>
            <a:ext cx="591037" cy="26161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1" name="Arrow: Left-Right 1030"/>
          <p:cNvSpPr/>
          <p:nvPr/>
        </p:nvSpPr>
        <p:spPr>
          <a:xfrm>
            <a:off x="9771989" y="3464645"/>
            <a:ext cx="682063" cy="33935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35" name="Connector: Elbow 1034"/>
          <p:cNvCxnSpPr/>
          <p:nvPr/>
        </p:nvCxnSpPr>
        <p:spPr>
          <a:xfrm rot="10800000">
            <a:off x="12009120" y="6675120"/>
            <a:ext cx="182880" cy="18288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Playwright — Features and Comparison | by leedohyung28 | Mediu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412" y="993369"/>
            <a:ext cx="585841" cy="44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2" descr="Playwright — Features and Comparison | by leedohyung28 | Mediu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188" y="980747"/>
            <a:ext cx="585841" cy="44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18" descr="Visual Studio Code Logo PNG Transparent &amp; SVG Vector - Freebie Suppl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403" y="1004860"/>
            <a:ext cx="301923" cy="3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8" descr="Visual Studio Code Logo PNG Transparent &amp; SVG Vector - Freebie Suppl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928" y="979494"/>
            <a:ext cx="301923" cy="3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12" descr="Playwright — Features and Comparison | by leedohyung28 | Mediu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59" y="987773"/>
            <a:ext cx="585841" cy="44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8" descr="Visual Studio Code Logo PNG Transparent &amp; SVG Vector - Freebie Suppl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345" y="1020453"/>
            <a:ext cx="301923" cy="3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35" y="5804409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074" y="6111826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030" y="6099774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838" y="6149890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619" y="904681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0" descr="Copilot Logo, symbol, meaning, history, PNG, br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498" y="5207337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5" name="Connector: Elbow 1074"/>
          <p:cNvCxnSpPr/>
          <p:nvPr/>
        </p:nvCxnSpPr>
        <p:spPr>
          <a:xfrm rot="10800000">
            <a:off x="2554149" y="6111826"/>
            <a:ext cx="6572264" cy="48651"/>
          </a:xfrm>
          <a:prstGeom prst="bentConnector4">
            <a:avLst>
              <a:gd name="adj1" fmla="val 363"/>
              <a:gd name="adj2" fmla="val -949177"/>
            </a:avLst>
          </a:prstGeom>
          <a:ln>
            <a:prstDash val="dash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9" name="Picture 22" descr="Deployment - Free networking ic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140" y="1849998"/>
            <a:ext cx="1056751" cy="105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24" descr="Database management - Free business icon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4370" y="3941641"/>
            <a:ext cx="965728" cy="9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1" name="TextBox 1080"/>
          <p:cNvSpPr txBox="1"/>
          <p:nvPr/>
        </p:nvSpPr>
        <p:spPr>
          <a:xfrm>
            <a:off x="10454005" y="5480685"/>
            <a:ext cx="13735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Multi - Domain - Banking, Insurance, Healthcare</a:t>
            </a:r>
          </a:p>
        </p:txBody>
      </p:sp>
      <p:sp>
        <p:nvSpPr>
          <p:cNvPr id="2" name="Arrow: Left-Right 1026"/>
          <p:cNvSpPr/>
          <p:nvPr/>
        </p:nvSpPr>
        <p:spPr>
          <a:xfrm>
            <a:off x="3285394" y="2907211"/>
            <a:ext cx="583223" cy="31538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14"/>
          <p:cNvSpPr txBox="1"/>
          <p:nvPr/>
        </p:nvSpPr>
        <p:spPr>
          <a:xfrm>
            <a:off x="3138170" y="1130300"/>
            <a:ext cx="876935" cy="43624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noAutofit/>
          </a:bodyPr>
          <a:lstStyle/>
          <a:p>
            <a:r>
              <a:rPr lang="en-IN" sz="800" b="1" dirty="0"/>
              <a:t>Test Data and Environment</a:t>
            </a:r>
          </a:p>
          <a:p>
            <a:r>
              <a:rPr lang="en-IN" sz="800" b="1" dirty="0"/>
              <a:t>Agent   </a:t>
            </a:r>
          </a:p>
        </p:txBody>
      </p:sp>
      <p:pic>
        <p:nvPicPr>
          <p:cNvPr id="8" name="Picture 20" descr="Copilot Logo, symbol, meaning, history, PNG, brand">
            <a:extLst>
              <a:ext uri="{FF2B5EF4-FFF2-40B4-BE49-F238E27FC236}">
                <a16:creationId xmlns:a16="http://schemas.microsoft.com/office/drawing/2014/main" id="{8303DF47-8D16-348B-018B-13A4C85E3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944" y="6001313"/>
            <a:ext cx="773334" cy="4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Relearning and Requirement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requirement analysis, traceability mapping, and quality scoring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Traceability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8.5/10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Quality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&gt;8.0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Accuracy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to Stories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Mapping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4 hours manual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15 min automated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Gap Detection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2 days review cycle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Real-time detection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Quality Review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Manual peer review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AI-driven SMART scoring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and Code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test generation, code quality analysis, and script design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Auto-Generation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from stories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92/100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8.2/10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SMART/INVEST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quality gate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Reusability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reuse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Creation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3 hrs per 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5 min per story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Cycles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3 review rounds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1 automated round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Scenario Coverage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60% coverage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95% coverage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 and Execution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Auto-repair broken tests, intelligent prioritization, and optimized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Auto-fixed locators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Saved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runtime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Stability Index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Test Fix Time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4 hours manual fix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Auto-healed in seconds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 Runtime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8 hours full run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3.2 hours optimized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Prioritization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Manual selection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AI risk-based ranking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and Defect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defect creation, CI/CD coverage tracking, and quality dashboards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Defects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logging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Test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pipeline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min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 hrs manual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Logging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30 min per defect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Auto-created instantly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Weekly manual report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Per pipeline run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Triage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2 hours per sprint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10 min AI-prioritized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and Observability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log correlation, APM visibility, and proactive alerting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99.2%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min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Correlation Accuracy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Hours to discover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Minutes with alerts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Manual log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Automated trace correlation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Reactive firefighting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Proactive anomaly detection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and Prod Server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provisioning, deployment validation, and multi-domain coverage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Uptime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Success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Insurance, Healthcare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25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132588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Readiness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provisioning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Agentic AI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2 days manual setup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30 min automated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Cycle Time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2 weeks end-to-end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3 days accelerated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1943100"/>
          </a:xfrm>
          <a:prstGeom prst="roundRect">
            <a:avLst>
              <a:gd name="adj" fmla="val 3765"/>
            </a:avLst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838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Validation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448056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</a:t>
            </a:r>
            <a:r>
              <a:rPr lang="en-US" sz="1200" dirty="0">
                <a:solidFill>
                  <a:srgbClr val="CBD5E1"/>
                </a:solidFill>
              </a:rPr>
              <a:t>Manual smoke tests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2640" y="5102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5303520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  </a:t>
            </a:r>
            <a:r>
              <a:rPr lang="en-US" sz="1200" b="1" dirty="0">
                <a:solidFill>
                  <a:srgbClr val="FFFFFF"/>
                </a:solidFill>
              </a:rPr>
              <a:t>Automated health checks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889</Words>
  <Application>Microsoft Office PowerPoint</Application>
  <PresentationFormat>Widescreen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Sarika Kumar</dc:creator>
  <cp:lastModifiedBy>Rajesh Kumar</cp:lastModifiedBy>
  <cp:revision>9</cp:revision>
  <dcterms:created xsi:type="dcterms:W3CDTF">2026-04-27T02:32:00Z</dcterms:created>
  <dcterms:modified xsi:type="dcterms:W3CDTF">2026-04-30T02:25:11Z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F49159746D554FF79FA0DE0C1EF2FB93_12</vt:lpwstr>
  </property>
</Properties>
</file>